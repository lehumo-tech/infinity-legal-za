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94560"/>
            <a:ext cx="1371600" cy="54864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B3C"/>
                </a:solidFill>
                <a:latin typeface="Calibri"/>
              </a:defRPr>
            </a:pPr>
            <a:r>
              <a:t>INFINITY LEGAL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New Features &amp; AI Integration</a:t>
            </a:r>
            <a:br/>
            <a:r>
              <a:t>Client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8A9A"/>
                </a:solidFill>
                <a:latin typeface="Calibri"/>
              </a:defRPr>
            </a:pPr>
            <a:r>
              <a:t>AI-Powered Legal Operations for the South African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A9A"/>
                </a:solidFill>
                <a:latin typeface="Calibri"/>
              </a:defRPr>
            </a:pPr>
            <a:r>
              <a:t>February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🤖  AI Audit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Automated audit analysis with risk scoring, pattern detection, anomaly alerts, and natural language querying. POPIA &amp; LSSA compliance built-in.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📊  Competitive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AI-generated market analysis, competitor profiling (LegalWise, traditional firms, online platforms), and actionable lead generation strategies.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📞  AI Lead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Automatic lead prioritization with A-F grading, conversion likelihood, personalized talking points, and best follow-up timing.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📚  AI Legal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5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South African law research assistant — case law, legislation references, strategy recommendations with proper disclaimers.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5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👥  Staff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59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Enhanced team dashboard with composition cards, search/filter, role-based onboarding modal, and department tracking.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79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🔒  Audit Trail Enhancement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778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Three view modes (AI Analysis, Timeline, Table), expandable event details, and POPIA compliance notices.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Client-Facing Landing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Calibri"/>
              </a:defRPr>
            </a:pPr>
            <a:r>
              <a:t>"Legal Help That Feels Like Home" — AI-powered intake, POPIA compliant, subscription pricing from R95/mo</a:t>
            </a:r>
          </a:p>
        </p:txBody>
      </p:sp>
      <p:pic>
        <p:nvPicPr>
          <p:cNvPr id="4" name="Picture 3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63265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AI-Powered Audit Trail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Calibri"/>
              </a:defRPr>
            </a:pPr>
            <a:r>
              <a:t>One-click AI analysis: Risk scoring, pattern detection, anomaly alerts, compliance notes, and "Ask the Audit" natural language queries</a:t>
            </a:r>
          </a:p>
        </p:txBody>
      </p:sp>
      <p:pic>
        <p:nvPicPr>
          <p:cNvPr id="4" name="Picture 3" descr="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65322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AI Competitive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Calibri"/>
              </a:defRPr>
            </a:pPr>
            <a:r>
              <a:t>Market overview, trending practice areas, competitor analysis (LegalWise, traditional firms, online platforms), and our strategic opportunities</a:t>
            </a:r>
          </a:p>
        </p:txBody>
      </p:sp>
      <p:pic>
        <p:nvPicPr>
          <p:cNvPr id="4" name="Picture 3" descr="int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65322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AI Lead Scoring &amp; Prioritization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Calibri"/>
              </a:defRPr>
            </a:pPr>
            <a:r>
              <a:t>AI analyzes each lead and provides: conversion score (0-100), letter grade (A-F), actionable recommendation, and culturally appropriate talking points</a:t>
            </a:r>
          </a:p>
        </p:txBody>
      </p:sp>
      <p:pic>
        <p:nvPicPr>
          <p:cNvPr id="4" name="Picture 3" descr="l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6532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AI Legal Research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Calibri"/>
              </a:defRPr>
            </a:pPr>
            <a:r>
              <a:t>South African law research: LRA, Children's Act, BCEA, PIE Act, and more. Case law citations, critical deadlines, and strategy recommendations.</a:t>
            </a:r>
          </a:p>
        </p:txBody>
      </p:sp>
      <p:pic>
        <p:nvPicPr>
          <p:cNvPr id="4" name="Picture 3" descr="re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65322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Staff Management &amp; Onboarding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Calibri"/>
              </a:defRPr>
            </a:pPr>
            <a:r>
              <a:t>Team composition dashboard, role-based search/filter, visual onboarding form with role selector, department tracking, and status management.</a:t>
            </a:r>
          </a:p>
        </p:txBody>
      </p:sp>
      <p:pic>
        <p:nvPicPr>
          <p:cNvPr id="4" name="Picture 3" descr="sta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65322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🔒 Role-Based Access Control (RBAC)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4572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B3C"/>
                </a:solidFill>
                <a:latin typeface="Calibri"/>
              </a:defRPr>
            </a:pPr>
            <a:r>
              <a:t>👑 Managing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4630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A9A"/>
                </a:solidFill>
                <a:latin typeface="Calibri"/>
              </a:defRPr>
            </a:pPr>
            <a:r>
              <a:t>Full access to all features including AI Intelligence, Audit Trail, Staff Management, and all case data. Can approve documents and create privileged strategy notes.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B3C"/>
                </a:solidFill>
                <a:latin typeface="Calibri"/>
              </a:defRPr>
            </a:pPr>
            <a:r>
              <a:t>⚖️ Legal Officers / Attorneys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488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A9A"/>
                </a:solidFill>
                <a:latin typeface="Calibri"/>
              </a:defRPr>
            </a:pPr>
            <a:r>
              <a:t>Access to cases, approvals, AI Intelligence Hub, document workflow, and privileged notes. Cannot access Staff Management or Audit Logs.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B3C"/>
                </a:solidFill>
                <a:latin typeface="Calibri"/>
              </a:defRPr>
            </a:pPr>
            <a:r>
              <a:t>📝 Paralegals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8346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A9A"/>
                </a:solidFill>
                <a:latin typeface="Calibri"/>
              </a:defRPr>
            </a:pPr>
            <a:r>
              <a:t>Access to assigned tasks, cases, AI Research Assistant, documents (draft only), and lead pipeline. Cannot see privileged notes or approve documents.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B3C"/>
                </a:solidFill>
                <a:latin typeface="Calibri"/>
              </a:defRPr>
            </a:pPr>
            <a:r>
              <a:t>📞 Intake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5204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A9A"/>
                </a:solidFill>
                <a:latin typeface="Calibri"/>
              </a:defRPr>
            </a:pPr>
            <a:r>
              <a:t>Access to lead queue, call management, and follow-ups only. Cannot access case files, documents, or provide legal advice. Qualified leads auto-routed.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B3C"/>
                </a:solidFill>
                <a:latin typeface="Calibri"/>
              </a:defRPr>
            </a:pPr>
            <a:r>
              <a:t>🖥️ IT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2062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A9A"/>
                </a:solidFill>
                <a:latin typeface="Calibri"/>
              </a:defRPr>
            </a:pPr>
            <a:r>
              <a:t>Access to Staff Management, Audit Logs, and system configuration. No access to case data or legal documents.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  <a:latin typeface="Calibri"/>
              </a:defRPr>
            </a:pPr>
            <a:r>
              <a:t>All access is enforced server-side via JWT token verification — not just UI-level hiding.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Calibri"/>
              </a:defRPr>
            </a:pPr>
            <a:r>
              <a:t>Next.js 14 (App Router) • React • TailwindCSS • shadcn/ui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965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Calibri"/>
              </a:defRPr>
            </a:pPr>
            <a:r>
              <a:t>Supabase (PostgreSQL) for primary data &amp; auth • MongoDB for notifications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AI /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60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Calibri"/>
              </a:defRPr>
            </a:pPr>
            <a:r>
              <a:t>Google Gemini 2.5 Flash via Emergent Proxy • Used for audit analysis, market intelligence, lead scoring, legal research, and client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15467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Calibri"/>
              </a:defRPr>
            </a:pPr>
            <a:r>
              <a:t>Brevo (Sendinblue) for transactional emails — signup confirmations, booking notifications, case updates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7490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Calibri"/>
              </a:defRPr>
            </a:pPr>
            <a:r>
              <a:t>Supabase Auth with JWT tokens • Custom RBAC middleware for role enforcement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343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Calibri"/>
              </a:defRPr>
            </a:pPr>
            <a:r>
              <a:t>POPIA compliant • Server-side RBAC • Immutable audit logs (7-year retention) • Rate limiting on AI endpoints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Payments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937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Calibri"/>
              </a:defRPr>
            </a:pPr>
            <a:r>
              <a:t>PayFast integration (On Hold — ready for activation)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Next Steps &amp;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4572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9B3C"/>
                </a:solidFill>
                <a:latin typeface="Calibri"/>
              </a:defRPr>
            </a:pPr>
            <a:r>
              <a:t>✅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645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AI Audit Intelligence • Competitive Intelligence • Lead Scoring • AI Research • Staff Management • RBAC Engine • Brevo Email • Dark Mode • Landing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9B3C"/>
                </a:solidFill>
                <a:latin typeface="Calibri"/>
              </a:defRPr>
            </a:pPr>
            <a:r>
              <a:t>🟡 On 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514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PayFast Payment Integration — Subscription checkout flow ready for activation when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9B3C"/>
                </a:solidFill>
                <a:latin typeface="Calibri"/>
              </a:defRPr>
            </a:pPr>
            <a:r>
              <a:t>🔵 Upcoming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383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Staff invitation email flow • Client portal dashboard • Notification center UI • Mobile responsive portal refinements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9B3C"/>
                </a:solidFill>
                <a:latin typeface="Calibri"/>
              </a:defRPr>
            </a:pPr>
            <a:r>
              <a:t>🟣 Future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2519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9A"/>
                </a:solidFill>
                <a:latin typeface="Calibri"/>
              </a:defRPr>
            </a:pPr>
            <a:r>
              <a:t>AI-powered document drafting • Automated case status updates • WhatsApp integration • Client self-service portal • Analytics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Thank you for your trust in Infinity Legal.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